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5" r:id="rId4"/>
    <p:sldId id="258" r:id="rId5"/>
    <p:sldId id="259" r:id="rId6"/>
    <p:sldId id="261" r:id="rId7"/>
    <p:sldId id="262" r:id="rId8"/>
    <p:sldId id="263" r:id="rId9"/>
    <p:sldId id="264" r:id="rId10"/>
    <p:sldId id="265" r:id="rId11"/>
    <p:sldId id="266" r:id="rId12"/>
    <p:sldId id="276" r:id="rId13"/>
    <p:sldId id="267" r:id="rId14"/>
    <p:sldId id="268" r:id="rId15"/>
    <p:sldId id="273" r:id="rId16"/>
    <p:sldId id="269" r:id="rId17"/>
    <p:sldId id="270"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9/5/2026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1FF2-C9E7-6F1A-1D8E-AFE63724C90C}"/>
              </a:ext>
            </a:extLst>
          </p:cNvPr>
          <p:cNvSpPr>
            <a:spLocks noGrp="1"/>
          </p:cNvSpPr>
          <p:nvPr>
            <p:ph type="ctrTitle"/>
          </p:nvPr>
        </p:nvSpPr>
        <p:spPr>
          <a:xfrm>
            <a:off x="2692398" y="1871131"/>
            <a:ext cx="6724979" cy="872069"/>
          </a:xfrm>
        </p:spPr>
        <p:txBody>
          <a:bodyPr/>
          <a:lstStyle/>
          <a:p>
            <a:r>
              <a:rPr lang="en-US" sz="2800" b="1" dirty="0"/>
              <a:t>EMPLOYEE ATTRITION ANALYSIS</a:t>
            </a:r>
            <a:endParaRPr lang="en-IN" sz="2800" b="1" dirty="0"/>
          </a:p>
        </p:txBody>
      </p:sp>
    </p:spTree>
    <p:extLst>
      <p:ext uri="{BB962C8B-B14F-4D97-AF65-F5344CB8AC3E}">
        <p14:creationId xmlns:p14="http://schemas.microsoft.com/office/powerpoint/2010/main" val="349606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53DDE6-95AF-6B43-78B1-1BBDA0EC50FC}"/>
              </a:ext>
            </a:extLst>
          </p:cNvPr>
          <p:cNvSpPr txBox="1"/>
          <p:nvPr/>
        </p:nvSpPr>
        <p:spPr>
          <a:xfrm>
            <a:off x="1093509" y="1055802"/>
            <a:ext cx="10143241" cy="369332"/>
          </a:xfrm>
          <a:prstGeom prst="rect">
            <a:avLst/>
          </a:prstGeom>
          <a:noFill/>
        </p:spPr>
        <p:txBody>
          <a:bodyPr wrap="square" rtlCol="0">
            <a:spAutoFit/>
          </a:bodyPr>
          <a:lstStyle/>
          <a:p>
            <a:r>
              <a:rPr lang="en-US" dirty="0"/>
              <a:t>PROBLEM   DEFNEATION</a:t>
            </a:r>
            <a:endParaRPr lang="en-IN" dirty="0"/>
          </a:p>
        </p:txBody>
      </p:sp>
      <p:sp>
        <p:nvSpPr>
          <p:cNvPr id="4" name="TextBox 3">
            <a:extLst>
              <a:ext uri="{FF2B5EF4-FFF2-40B4-BE49-F238E27FC236}">
                <a16:creationId xmlns:a16="http://schemas.microsoft.com/office/drawing/2014/main" id="{B1DBCF11-3ACF-0819-2AB5-2FC142E6353D}"/>
              </a:ext>
            </a:extLst>
          </p:cNvPr>
          <p:cNvSpPr txBox="1"/>
          <p:nvPr/>
        </p:nvSpPr>
        <p:spPr>
          <a:xfrm>
            <a:off x="1093508" y="1509859"/>
            <a:ext cx="10143241" cy="2031325"/>
          </a:xfrm>
          <a:prstGeom prst="rect">
            <a:avLst/>
          </a:prstGeom>
          <a:noFill/>
        </p:spPr>
        <p:txBody>
          <a:bodyPr wrap="square" rtlCol="0">
            <a:spAutoFit/>
          </a:bodyPr>
          <a:lstStyle/>
          <a:p>
            <a:r>
              <a:rPr lang="en-IN" dirty="0"/>
              <a:t>Employee attrition is a major HR challenge because employees leaving an organization can affect workforce stability, productivity, and retention planning.</a:t>
            </a:r>
            <a:br>
              <a:rPr lang="en-IN" dirty="0"/>
            </a:br>
            <a:r>
              <a:rPr lang="en-IN" dirty="0"/>
              <a:t>This project aims to analyse employee data and identify the demographic, salary, workload, workplace, engagement, burnout, work-life balance, and AI-related factors associated with employee attrition.</a:t>
            </a:r>
          </a:p>
          <a:p>
            <a:br>
              <a:rPr lang="en-IN" dirty="0"/>
            </a:br>
            <a:endParaRPr lang="en-IN" dirty="0"/>
          </a:p>
          <a:p>
            <a:endParaRPr lang="en-IN" dirty="0"/>
          </a:p>
        </p:txBody>
      </p:sp>
    </p:spTree>
    <p:extLst>
      <p:ext uri="{BB962C8B-B14F-4D97-AF65-F5344CB8AC3E}">
        <p14:creationId xmlns:p14="http://schemas.microsoft.com/office/powerpoint/2010/main" val="1076947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E52CE-1B66-68A9-9473-E53C5BD9F19E}"/>
              </a:ext>
            </a:extLst>
          </p:cNvPr>
          <p:cNvSpPr txBox="1"/>
          <p:nvPr/>
        </p:nvSpPr>
        <p:spPr>
          <a:xfrm>
            <a:off x="1376314" y="1008668"/>
            <a:ext cx="7598004" cy="3231654"/>
          </a:xfrm>
          <a:prstGeom prst="rect">
            <a:avLst/>
          </a:prstGeom>
          <a:noFill/>
        </p:spPr>
        <p:txBody>
          <a:bodyPr wrap="square" rtlCol="0">
            <a:spAutoFit/>
          </a:bodyPr>
          <a:lstStyle/>
          <a:p>
            <a:r>
              <a:rPr lang="en-IN" sz="2400" b="1" dirty="0"/>
              <a:t>project questions</a:t>
            </a:r>
          </a:p>
          <a:p>
            <a:br>
              <a:rPr lang="en-IN" dirty="0"/>
            </a:br>
            <a:r>
              <a:rPr lang="en-IN" dirty="0"/>
              <a:t>Does age influence attrition?</a:t>
            </a:r>
            <a:br>
              <a:rPr lang="en-IN" dirty="0"/>
            </a:br>
            <a:r>
              <a:rPr lang="en-IN" dirty="0"/>
              <a:t>Does salary influence attrition?</a:t>
            </a:r>
            <a:br>
              <a:rPr lang="en-IN" dirty="0"/>
            </a:br>
            <a:r>
              <a:rPr lang="en-IN" dirty="0"/>
              <a:t>Does overtime relate to attrition?</a:t>
            </a:r>
            <a:br>
              <a:rPr lang="en-IN" dirty="0"/>
            </a:br>
            <a:r>
              <a:rPr lang="en-IN" dirty="0"/>
              <a:t>Does burnout relate to attrition?</a:t>
            </a:r>
          </a:p>
          <a:p>
            <a:r>
              <a:rPr lang="en-IN" dirty="0"/>
              <a:t>Does manager support influence attrition</a:t>
            </a:r>
          </a:p>
          <a:p>
            <a:r>
              <a:rPr lang="en-IN" dirty="0"/>
              <a:t>Worklife balance influence attrition</a:t>
            </a:r>
            <a:br>
              <a:rPr lang="en-IN" dirty="0"/>
            </a:br>
            <a:r>
              <a:rPr lang="en-IN" dirty="0"/>
              <a:t>Does employee engagement relate to attrition?</a:t>
            </a:r>
            <a:br>
              <a:rPr lang="en-IN" dirty="0"/>
            </a:br>
            <a:r>
              <a:rPr lang="en-IN" dirty="0"/>
              <a:t>Is perceived AI job risk associated with attrition?</a:t>
            </a:r>
          </a:p>
          <a:p>
            <a:endParaRPr lang="en-IN" dirty="0"/>
          </a:p>
        </p:txBody>
      </p:sp>
    </p:spTree>
    <p:extLst>
      <p:ext uri="{BB962C8B-B14F-4D97-AF65-F5344CB8AC3E}">
        <p14:creationId xmlns:p14="http://schemas.microsoft.com/office/powerpoint/2010/main" val="3463911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DE77FC-731D-CF4B-BF7F-95443535707E}"/>
              </a:ext>
            </a:extLst>
          </p:cNvPr>
          <p:cNvSpPr txBox="1"/>
          <p:nvPr/>
        </p:nvSpPr>
        <p:spPr>
          <a:xfrm>
            <a:off x="1112364" y="989815"/>
            <a:ext cx="9945278" cy="4247317"/>
          </a:xfrm>
          <a:prstGeom prst="rect">
            <a:avLst/>
          </a:prstGeom>
          <a:noFill/>
        </p:spPr>
        <p:txBody>
          <a:bodyPr wrap="square" rtlCol="0">
            <a:spAutoFit/>
          </a:bodyPr>
          <a:lstStyle/>
          <a:p>
            <a:r>
              <a:rPr lang="en-IN" b="1" dirty="0"/>
              <a:t>Dataset</a:t>
            </a:r>
            <a:br>
              <a:rPr lang="en-IN" dirty="0"/>
            </a:br>
            <a:r>
              <a:rPr lang="en-IN" dirty="0"/>
              <a:t>Employee HR Analytics</a:t>
            </a:r>
            <a:br>
              <a:rPr lang="en-IN" dirty="0"/>
            </a:br>
            <a:r>
              <a:rPr lang="en-IN" b="1" dirty="0"/>
              <a:t>Source</a:t>
            </a:r>
          </a:p>
          <a:p>
            <a:r>
              <a:rPr lang="en-IN" dirty="0"/>
              <a:t>Kaggle</a:t>
            </a:r>
            <a:br>
              <a:rPr lang="en-IN" dirty="0"/>
            </a:br>
            <a:r>
              <a:rPr lang="en-IN" b="1" dirty="0"/>
              <a:t>Domain</a:t>
            </a:r>
          </a:p>
          <a:p>
            <a:r>
              <a:rPr lang="en-US" dirty="0"/>
              <a:t>. Human Resources (HR) ○ Employee attrition or retention reports </a:t>
            </a:r>
            <a:br>
              <a:rPr lang="en-IN" dirty="0"/>
            </a:br>
            <a:r>
              <a:rPr lang="en-IN" b="1" dirty="0"/>
              <a:t>Data Size</a:t>
            </a:r>
            <a:br>
              <a:rPr lang="en-IN" dirty="0"/>
            </a:br>
            <a:r>
              <a:rPr lang="en-IN" dirty="0"/>
              <a:t>5,000 rows × 29 columns</a:t>
            </a:r>
            <a:br>
              <a:rPr lang="en-IN" dirty="0"/>
            </a:br>
            <a:r>
              <a:rPr lang="en-IN" b="1" dirty="0"/>
              <a:t>Volume</a:t>
            </a:r>
            <a:br>
              <a:rPr lang="en-IN" dirty="0"/>
            </a:br>
            <a:r>
              <a:rPr lang="en-IN" dirty="0"/>
              <a:t>5,000 employee records</a:t>
            </a:r>
            <a:br>
              <a:rPr lang="en-IN" dirty="0"/>
            </a:br>
            <a:r>
              <a:rPr lang="en-IN" b="1" dirty="0"/>
              <a:t>Data Type</a:t>
            </a:r>
            <a:br>
              <a:rPr lang="en-IN" dirty="0"/>
            </a:br>
            <a:r>
              <a:rPr lang="en-IN" dirty="0"/>
              <a:t>Numerical and categorical employee data</a:t>
            </a:r>
            <a:br>
              <a:rPr lang="en-IN" dirty="0"/>
            </a:br>
            <a:r>
              <a:rPr lang="en-IN" b="1" dirty="0"/>
              <a:t>Main Target</a:t>
            </a:r>
            <a:br>
              <a:rPr lang="en-IN" dirty="0"/>
            </a:br>
            <a:r>
              <a:rPr lang="en-IN" dirty="0"/>
              <a:t>Employee Attrition</a:t>
            </a:r>
          </a:p>
          <a:p>
            <a:endParaRPr lang="en-IN" dirty="0"/>
          </a:p>
        </p:txBody>
      </p:sp>
    </p:spTree>
    <p:extLst>
      <p:ext uri="{BB962C8B-B14F-4D97-AF65-F5344CB8AC3E}">
        <p14:creationId xmlns:p14="http://schemas.microsoft.com/office/powerpoint/2010/main" val="2124632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2AA244-9281-38C3-04BB-40F2D302B2EF}"/>
              </a:ext>
            </a:extLst>
          </p:cNvPr>
          <p:cNvSpPr txBox="1"/>
          <p:nvPr/>
        </p:nvSpPr>
        <p:spPr>
          <a:xfrm>
            <a:off x="829560" y="678730"/>
            <a:ext cx="10482606" cy="5355312"/>
          </a:xfrm>
          <a:prstGeom prst="rect">
            <a:avLst/>
          </a:prstGeom>
          <a:noFill/>
        </p:spPr>
        <p:txBody>
          <a:bodyPr wrap="square" rtlCol="0">
            <a:spAutoFit/>
          </a:bodyPr>
          <a:lstStyle/>
          <a:p>
            <a:r>
              <a:rPr lang="en-IN" b="1" dirty="0"/>
              <a:t>Data Cleaning &amp; Preparation</a:t>
            </a:r>
            <a:br>
              <a:rPr lang="en-IN" dirty="0"/>
            </a:br>
            <a:br>
              <a:rPr lang="en-IN" dirty="0"/>
            </a:br>
            <a:r>
              <a:rPr lang="en-IN" b="1" dirty="0"/>
              <a:t>Data Cleaning Steps</a:t>
            </a:r>
            <a:br>
              <a:rPr lang="en-IN" dirty="0"/>
            </a:br>
            <a:r>
              <a:rPr lang="en-IN" dirty="0"/>
              <a:t>Loaded the dataset using Pandas.</a:t>
            </a:r>
            <a:br>
              <a:rPr lang="en-IN" dirty="0"/>
            </a:br>
            <a:r>
              <a:rPr lang="en-IN" dirty="0"/>
              <a:t>Checked dataset structure — rows, columns and data types.</a:t>
            </a:r>
            <a:br>
              <a:rPr lang="en-IN" dirty="0"/>
            </a:br>
            <a:r>
              <a:rPr lang="en-IN" dirty="0"/>
              <a:t>Checked missing values — no missing values were found.</a:t>
            </a:r>
            <a:br>
              <a:rPr lang="en-IN" dirty="0"/>
            </a:br>
            <a:r>
              <a:rPr lang="en-IN" dirty="0"/>
              <a:t>Checked duplicate records — no exact duplicates were found.</a:t>
            </a:r>
            <a:br>
              <a:rPr lang="en-IN" dirty="0"/>
            </a:br>
            <a:r>
              <a:rPr lang="en-IN" dirty="0"/>
              <a:t>Checked data types and prepared variables for analysis.</a:t>
            </a:r>
            <a:br>
              <a:rPr lang="en-IN" dirty="0"/>
            </a:br>
            <a:r>
              <a:rPr lang="en-IN" dirty="0"/>
              <a:t>Created attrition flag:</a:t>
            </a:r>
            <a:br>
              <a:rPr lang="en-IN" dirty="0"/>
            </a:br>
            <a:r>
              <a:rPr lang="en-IN" dirty="0"/>
              <a:t>0 = Stayed</a:t>
            </a:r>
            <a:br>
              <a:rPr lang="en-IN" dirty="0"/>
            </a:br>
            <a:r>
              <a:rPr lang="en-IN" dirty="0"/>
              <a:t>1 = Left</a:t>
            </a:r>
            <a:br>
              <a:rPr lang="en-IN" dirty="0"/>
            </a:br>
            <a:r>
              <a:rPr lang="en-IN" dirty="0"/>
              <a:t>Created derived categories for analysis, such as:</a:t>
            </a:r>
            <a:br>
              <a:rPr lang="en-IN" dirty="0"/>
            </a:br>
            <a:r>
              <a:rPr lang="en-IN" dirty="0"/>
              <a:t>Age Group</a:t>
            </a:r>
            <a:br>
              <a:rPr lang="en-IN" dirty="0"/>
            </a:br>
            <a:r>
              <a:rPr lang="en-IN" dirty="0"/>
              <a:t>Salary Category</a:t>
            </a:r>
            <a:br>
              <a:rPr lang="en-IN" dirty="0"/>
            </a:br>
            <a:r>
              <a:rPr lang="en-IN" dirty="0"/>
              <a:t>Overtime Category</a:t>
            </a:r>
            <a:br>
              <a:rPr lang="en-IN" dirty="0"/>
            </a:br>
            <a:r>
              <a:rPr lang="en-IN" dirty="0"/>
              <a:t>Burnout Category</a:t>
            </a:r>
            <a:br>
              <a:rPr lang="en-IN" dirty="0"/>
            </a:br>
            <a:r>
              <a:rPr lang="en-IN" dirty="0"/>
              <a:t>Engagement Category</a:t>
            </a:r>
            <a:br>
              <a:rPr lang="en-IN" dirty="0"/>
            </a:br>
            <a:r>
              <a:rPr lang="en-IN" dirty="0"/>
              <a:t>Work-Life Balance Category</a:t>
            </a:r>
            <a:br>
              <a:rPr lang="en-IN" dirty="0"/>
            </a:br>
            <a:r>
              <a:rPr lang="en-IN" dirty="0"/>
              <a:t>Prepared numerical and categorical variables for visualization and statistical analysis.</a:t>
            </a:r>
          </a:p>
        </p:txBody>
      </p:sp>
    </p:spTree>
    <p:extLst>
      <p:ext uri="{BB962C8B-B14F-4D97-AF65-F5344CB8AC3E}">
        <p14:creationId xmlns:p14="http://schemas.microsoft.com/office/powerpoint/2010/main" val="1642779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08492C-5290-9F4D-50A4-79C146C5EDEB}"/>
              </a:ext>
            </a:extLst>
          </p:cNvPr>
          <p:cNvSpPr txBox="1"/>
          <p:nvPr/>
        </p:nvSpPr>
        <p:spPr>
          <a:xfrm>
            <a:off x="970961" y="980386"/>
            <a:ext cx="10388338" cy="1908215"/>
          </a:xfrm>
          <a:prstGeom prst="rect">
            <a:avLst/>
          </a:prstGeom>
          <a:noFill/>
        </p:spPr>
        <p:txBody>
          <a:bodyPr wrap="square" rtlCol="0">
            <a:spAutoFit/>
          </a:bodyPr>
          <a:lstStyle/>
          <a:p>
            <a:r>
              <a:rPr lang="en-IN" sz="2800" b="1" dirty="0"/>
              <a:t>Employee Attrition Distribution </a:t>
            </a:r>
            <a:br>
              <a:rPr lang="en-IN" dirty="0"/>
            </a:br>
            <a:r>
              <a:rPr lang="en-IN" dirty="0"/>
              <a:t>The chart shows the number of employees who stayed and left the organization.</a:t>
            </a:r>
            <a:br>
              <a:rPr lang="en-IN" dirty="0"/>
            </a:br>
            <a:r>
              <a:rPr lang="en-IN" dirty="0"/>
              <a:t>No: Approximately 4,000+ employees did not leave the organization.</a:t>
            </a:r>
            <a:br>
              <a:rPr lang="en-IN" dirty="0"/>
            </a:br>
            <a:r>
              <a:rPr lang="en-IN" dirty="0"/>
              <a:t>Yes: Approximately 500–600 employees left the organization.</a:t>
            </a:r>
            <a:br>
              <a:rPr lang="en-IN" dirty="0"/>
            </a:br>
            <a:r>
              <a:rPr lang="en-IN" dirty="0"/>
              <a:t>Therefore, the dataset has many more employees who stayed than employees who left.</a:t>
            </a:r>
            <a:br>
              <a:rPr lang="en-IN" dirty="0"/>
            </a:br>
            <a:r>
              <a:rPr lang="en-IN" dirty="0"/>
              <a:t>This indicates that attrition is a minority outcome in the dataset.</a:t>
            </a:r>
          </a:p>
        </p:txBody>
      </p:sp>
      <p:pic>
        <p:nvPicPr>
          <p:cNvPr id="4" name="Picture 3">
            <a:extLst>
              <a:ext uri="{FF2B5EF4-FFF2-40B4-BE49-F238E27FC236}">
                <a16:creationId xmlns:a16="http://schemas.microsoft.com/office/drawing/2014/main" id="{19EF8B52-4A1F-3549-8E3C-3D7A9B8388C5}"/>
              </a:ext>
            </a:extLst>
          </p:cNvPr>
          <p:cNvPicPr>
            <a:picLocks noChangeAspect="1"/>
          </p:cNvPicPr>
          <p:nvPr/>
        </p:nvPicPr>
        <p:blipFill>
          <a:blip r:embed="rId2"/>
          <a:srcRect l="1" t="9679" r="35423" b="20204"/>
          <a:stretch>
            <a:fillRect/>
          </a:stretch>
        </p:blipFill>
        <p:spPr>
          <a:xfrm>
            <a:off x="1404593" y="3195687"/>
            <a:ext cx="4845377" cy="3001335"/>
          </a:xfrm>
          <a:prstGeom prst="rect">
            <a:avLst/>
          </a:prstGeom>
        </p:spPr>
      </p:pic>
    </p:spTree>
    <p:extLst>
      <p:ext uri="{BB962C8B-B14F-4D97-AF65-F5344CB8AC3E}">
        <p14:creationId xmlns:p14="http://schemas.microsoft.com/office/powerpoint/2010/main" val="2351801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C3619B-C8F8-EB32-BA12-970EA7218956}"/>
              </a:ext>
            </a:extLst>
          </p:cNvPr>
          <p:cNvSpPr txBox="1"/>
          <p:nvPr/>
        </p:nvSpPr>
        <p:spPr>
          <a:xfrm>
            <a:off x="820131" y="678730"/>
            <a:ext cx="10171522" cy="2739211"/>
          </a:xfrm>
          <a:prstGeom prst="rect">
            <a:avLst/>
          </a:prstGeom>
          <a:noFill/>
        </p:spPr>
        <p:txBody>
          <a:bodyPr wrap="square" rtlCol="0">
            <a:spAutoFit/>
          </a:bodyPr>
          <a:lstStyle/>
          <a:p>
            <a:r>
              <a:rPr lang="en-IN" b="1" dirty="0"/>
              <a:t>Age  vs Attrition </a:t>
            </a:r>
            <a:br>
              <a:rPr lang="en-IN" sz="1100" dirty="0"/>
            </a:br>
            <a:r>
              <a:rPr lang="en-IN" sz="1400" dirty="0"/>
              <a:t>The chart compares attrition rates (%) across different age groups.</a:t>
            </a:r>
            <a:br>
              <a:rPr lang="en-IN" sz="1400" dirty="0"/>
            </a:br>
            <a:r>
              <a:rPr lang="en-IN" sz="1400" dirty="0"/>
              <a:t>Under 25 has the highest attrition rate, at approximately 19.6%.</a:t>
            </a:r>
            <a:br>
              <a:rPr lang="en-IN" sz="1400" dirty="0"/>
            </a:br>
            <a:r>
              <a:rPr lang="en-IN" sz="1400" dirty="0"/>
              <a:t>30–40 has the second-highest rate, at approximately 18.4%.</a:t>
            </a:r>
            <a:br>
              <a:rPr lang="en-IN" sz="1400" dirty="0"/>
            </a:br>
            <a:r>
              <a:rPr lang="en-IN" sz="1400" dirty="0"/>
              <a:t>25–30 and 40–50 have similar attrition rates, around 17–18%.</a:t>
            </a:r>
            <a:br>
              <a:rPr lang="en-IN" sz="1400" dirty="0"/>
            </a:br>
            <a:r>
              <a:rPr lang="en-IN" sz="1400" dirty="0"/>
              <a:t>The 50–60 group has a lower attrition rate of approximately 15%.</a:t>
            </a:r>
            <a:br>
              <a:rPr lang="en-IN" sz="1400" dirty="0"/>
            </a:br>
            <a:r>
              <a:rPr lang="en-IN" sz="1400" dirty="0"/>
              <a:t>Above 60 has the lowest attrition rate, around 6.7%.</a:t>
            </a:r>
            <a:br>
              <a:rPr lang="en-IN" sz="1400" dirty="0"/>
            </a:br>
            <a:r>
              <a:rPr lang="en-IN" sz="1400" dirty="0"/>
              <a:t>Overall, the chart suggests that younger employees, particularly those under 25, have relatively higher attrition in this dataset.</a:t>
            </a:r>
            <a:br>
              <a:rPr lang="en-IN" sz="1400" dirty="0"/>
            </a:br>
            <a:r>
              <a:rPr lang="en-IN" sz="1400" dirty="0"/>
              <a:t>The Above-60 result should be interpreted cautiously because this group has only 15 employees.</a:t>
            </a:r>
            <a:br>
              <a:rPr lang="en-IN" sz="1400" dirty="0"/>
            </a:br>
            <a:br>
              <a:rPr lang="en-IN" sz="1400" dirty="0"/>
            </a:br>
            <a:r>
              <a:rPr lang="en-IN" sz="1400" dirty="0"/>
              <a:t>“The Under-25 age group has the highest attrition rate at approximately 19.6%, while the Above-60 group has the lowest at approximately 6.7%. Overall, younger employees show relatively higher attrition in this dataset.”</a:t>
            </a:r>
          </a:p>
        </p:txBody>
      </p:sp>
      <p:pic>
        <p:nvPicPr>
          <p:cNvPr id="5" name="Picture 4">
            <a:extLst>
              <a:ext uri="{FF2B5EF4-FFF2-40B4-BE49-F238E27FC236}">
                <a16:creationId xmlns:a16="http://schemas.microsoft.com/office/drawing/2014/main" id="{6807AAC2-302D-3B52-18EC-22A2ECD4B73E}"/>
              </a:ext>
            </a:extLst>
          </p:cNvPr>
          <p:cNvPicPr>
            <a:picLocks noChangeAspect="1"/>
          </p:cNvPicPr>
          <p:nvPr/>
        </p:nvPicPr>
        <p:blipFill>
          <a:blip r:embed="rId2"/>
          <a:stretch>
            <a:fillRect/>
          </a:stretch>
        </p:blipFill>
        <p:spPr>
          <a:xfrm>
            <a:off x="6372521" y="3176833"/>
            <a:ext cx="4874836" cy="2960732"/>
          </a:xfrm>
          <a:prstGeom prst="rect">
            <a:avLst/>
          </a:prstGeom>
        </p:spPr>
      </p:pic>
    </p:spTree>
    <p:extLst>
      <p:ext uri="{BB962C8B-B14F-4D97-AF65-F5344CB8AC3E}">
        <p14:creationId xmlns:p14="http://schemas.microsoft.com/office/powerpoint/2010/main" val="3965772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00F7B6-7A67-E3E5-AD0B-28B793918444}"/>
              </a:ext>
            </a:extLst>
          </p:cNvPr>
          <p:cNvSpPr txBox="1"/>
          <p:nvPr/>
        </p:nvSpPr>
        <p:spPr>
          <a:xfrm>
            <a:off x="707009" y="650448"/>
            <a:ext cx="9954705" cy="2462213"/>
          </a:xfrm>
          <a:prstGeom prst="rect">
            <a:avLst/>
          </a:prstGeom>
          <a:noFill/>
        </p:spPr>
        <p:txBody>
          <a:bodyPr wrap="square" rtlCol="0">
            <a:spAutoFit/>
          </a:bodyPr>
          <a:lstStyle/>
          <a:p>
            <a:r>
              <a:rPr lang="en-IN" sz="1400" b="1" dirty="0"/>
              <a:t>Salary Category vs Attrition Rate </a:t>
            </a:r>
            <a:br>
              <a:rPr lang="en-IN" sz="1400" dirty="0"/>
            </a:br>
            <a:r>
              <a:rPr lang="en-IN" sz="1400" dirty="0"/>
              <a:t>The chart compares attrition rates across different salary categories.</a:t>
            </a:r>
            <a:br>
              <a:rPr lang="en-IN" sz="1400" dirty="0"/>
            </a:br>
            <a:r>
              <a:rPr lang="en-IN" sz="1400" dirty="0"/>
              <a:t>The ₹20K–₹25K salary category has the highest attrition rate, at approximately 47–48%.</a:t>
            </a:r>
            <a:br>
              <a:rPr lang="en-IN" sz="1400" dirty="0"/>
            </a:br>
            <a:r>
              <a:rPr lang="en-IN" sz="1400" dirty="0"/>
              <a:t>The ₹0–₹5K category has the second-highest attrition rate, at approximately 21%.</a:t>
            </a:r>
            <a:br>
              <a:rPr lang="en-IN" sz="1400" dirty="0"/>
            </a:br>
            <a:r>
              <a:rPr lang="en-IN" sz="1400" dirty="0"/>
              <a:t>The ₹5K–₹10K category has an attrition rate of approximately 17%.</a:t>
            </a:r>
            <a:br>
              <a:rPr lang="en-IN" sz="1400" dirty="0"/>
            </a:br>
            <a:r>
              <a:rPr lang="en-IN" sz="1400" dirty="0"/>
              <a:t>The ₹15K–₹20K category has an attrition rate of approximately 15–16%.</a:t>
            </a:r>
            <a:br>
              <a:rPr lang="en-IN" sz="1400" dirty="0"/>
            </a:br>
            <a:r>
              <a:rPr lang="en-IN" sz="1400" dirty="0"/>
              <a:t>The ₹10K–₹15K category has the lowest attrition rate, at approximately 14%.</a:t>
            </a:r>
            <a:br>
              <a:rPr lang="en-IN" sz="1400" dirty="0"/>
            </a:br>
            <a:r>
              <a:rPr lang="en-IN" sz="1400" dirty="0"/>
              <a:t>Therefore, in this dataset, the ₹20K–₹25K group shows an unusually high attrition rate compared with the other salary categories.</a:t>
            </a:r>
            <a:br>
              <a:rPr lang="en-IN" sz="1400" dirty="0"/>
            </a:br>
            <a:br>
              <a:rPr lang="en-IN" sz="1400" dirty="0"/>
            </a:br>
            <a:r>
              <a:rPr lang="en-IN" sz="1400" dirty="0"/>
              <a:t>“The ₹20K–₹25K salary category has the highest attrition rate at approximately 48%, while the ₹10K–₹15K category has the lowest at around 14%. This indicates a noticeable variation in attrition across salary categories.”</a:t>
            </a:r>
          </a:p>
        </p:txBody>
      </p:sp>
      <p:pic>
        <p:nvPicPr>
          <p:cNvPr id="4" name="Picture 3">
            <a:extLst>
              <a:ext uri="{FF2B5EF4-FFF2-40B4-BE49-F238E27FC236}">
                <a16:creationId xmlns:a16="http://schemas.microsoft.com/office/drawing/2014/main" id="{3381D29C-86AB-DB3E-198D-E34CD49601B9}"/>
              </a:ext>
            </a:extLst>
          </p:cNvPr>
          <p:cNvPicPr>
            <a:picLocks noChangeAspect="1"/>
          </p:cNvPicPr>
          <p:nvPr/>
        </p:nvPicPr>
        <p:blipFill>
          <a:blip r:embed="rId2"/>
          <a:stretch>
            <a:fillRect/>
          </a:stretch>
        </p:blipFill>
        <p:spPr>
          <a:xfrm>
            <a:off x="6567340" y="3112661"/>
            <a:ext cx="4764687" cy="2868960"/>
          </a:xfrm>
          <a:prstGeom prst="rect">
            <a:avLst/>
          </a:prstGeom>
        </p:spPr>
      </p:pic>
    </p:spTree>
    <p:extLst>
      <p:ext uri="{BB962C8B-B14F-4D97-AF65-F5344CB8AC3E}">
        <p14:creationId xmlns:p14="http://schemas.microsoft.com/office/powerpoint/2010/main" val="2752921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8DE5CF-D34B-E8D1-E09C-544971D83831}"/>
              </a:ext>
            </a:extLst>
          </p:cNvPr>
          <p:cNvSpPr txBox="1"/>
          <p:nvPr/>
        </p:nvSpPr>
        <p:spPr>
          <a:xfrm>
            <a:off x="763571" y="735292"/>
            <a:ext cx="10039547" cy="1815882"/>
          </a:xfrm>
          <a:prstGeom prst="rect">
            <a:avLst/>
          </a:prstGeom>
          <a:noFill/>
        </p:spPr>
        <p:txBody>
          <a:bodyPr wrap="square" rtlCol="0">
            <a:spAutoFit/>
          </a:bodyPr>
          <a:lstStyle/>
          <a:p>
            <a:r>
              <a:rPr lang="en-IN" sz="1400" b="1" dirty="0"/>
              <a:t>Overtime vs Attrition Rate — Explanation</a:t>
            </a:r>
            <a:br>
              <a:rPr lang="en-IN" sz="1400" dirty="0"/>
            </a:br>
            <a:r>
              <a:rPr lang="en-IN" sz="1400" dirty="0"/>
              <a:t>The chart compares attrition rates across different overtime-hour categories.</a:t>
            </a:r>
            <a:br>
              <a:rPr lang="en-IN" sz="1400" dirty="0"/>
            </a:br>
            <a:r>
              <a:rPr lang="en-IN" sz="1400" dirty="0"/>
              <a:t>Employees working 20–30 overtime hours per week have the highest attrition rate, approximately 56%.</a:t>
            </a:r>
            <a:br>
              <a:rPr lang="en-IN" sz="1400" dirty="0"/>
            </a:br>
            <a:r>
              <a:rPr lang="en-IN" sz="1400" dirty="0"/>
              <a:t>The 10–20 hours category has an attrition rate of approximately 29%.</a:t>
            </a:r>
            <a:br>
              <a:rPr lang="en-IN" sz="1400" dirty="0"/>
            </a:br>
            <a:r>
              <a:rPr lang="en-IN" sz="1400" dirty="0"/>
              <a:t>The 30–40 hours category has an attrition rate of approximately 25%.</a:t>
            </a:r>
            <a:br>
              <a:rPr lang="en-IN" sz="1400" dirty="0"/>
            </a:br>
            <a:r>
              <a:rPr lang="en-IN" sz="1400" dirty="0"/>
              <a:t>Employees working 5–10 hours have an attrition rate of approximately 18%.</a:t>
            </a:r>
            <a:br>
              <a:rPr lang="en-IN" sz="1400" dirty="0"/>
            </a:br>
            <a:r>
              <a:rPr lang="en-IN" sz="1400" dirty="0"/>
              <a:t>The 0–5 hours category has the lowest attrition rate, approximately 12%.</a:t>
            </a:r>
            <a:br>
              <a:rPr lang="en-IN" sz="1400" dirty="0"/>
            </a:br>
            <a:r>
              <a:rPr lang="en-IN" sz="1400" dirty="0"/>
              <a:t>Overall, the chart shows a strong association between overtime and attrition, particularly for employees working 20–30 overtime hours.</a:t>
            </a:r>
          </a:p>
        </p:txBody>
      </p:sp>
      <p:pic>
        <p:nvPicPr>
          <p:cNvPr id="4" name="Picture 3">
            <a:extLst>
              <a:ext uri="{FF2B5EF4-FFF2-40B4-BE49-F238E27FC236}">
                <a16:creationId xmlns:a16="http://schemas.microsoft.com/office/drawing/2014/main" id="{61E9807D-4A2A-4971-C378-7CDD054032D5}"/>
              </a:ext>
            </a:extLst>
          </p:cNvPr>
          <p:cNvPicPr>
            <a:picLocks noChangeAspect="1"/>
          </p:cNvPicPr>
          <p:nvPr/>
        </p:nvPicPr>
        <p:blipFill>
          <a:blip r:embed="rId2"/>
          <a:stretch>
            <a:fillRect/>
          </a:stretch>
        </p:blipFill>
        <p:spPr>
          <a:xfrm>
            <a:off x="5976594" y="2710298"/>
            <a:ext cx="5271557" cy="3193058"/>
          </a:xfrm>
          <a:prstGeom prst="rect">
            <a:avLst/>
          </a:prstGeom>
        </p:spPr>
      </p:pic>
    </p:spTree>
    <p:extLst>
      <p:ext uri="{BB962C8B-B14F-4D97-AF65-F5344CB8AC3E}">
        <p14:creationId xmlns:p14="http://schemas.microsoft.com/office/powerpoint/2010/main" val="109625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79C346-1B5B-234A-7BE7-882A5808289E}"/>
              </a:ext>
            </a:extLst>
          </p:cNvPr>
          <p:cNvSpPr txBox="1"/>
          <p:nvPr/>
        </p:nvSpPr>
        <p:spPr>
          <a:xfrm>
            <a:off x="641023" y="641022"/>
            <a:ext cx="9643620" cy="1600438"/>
          </a:xfrm>
          <a:prstGeom prst="rect">
            <a:avLst/>
          </a:prstGeom>
          <a:noFill/>
        </p:spPr>
        <p:txBody>
          <a:bodyPr wrap="square" rtlCol="0">
            <a:spAutoFit/>
          </a:bodyPr>
          <a:lstStyle/>
          <a:p>
            <a:r>
              <a:rPr lang="en-IN" sz="1400" b="1" dirty="0"/>
              <a:t>Burnout Category vs Attrition Rate </a:t>
            </a:r>
          </a:p>
          <a:p>
            <a:r>
              <a:rPr lang="en-IN" sz="1400" dirty="0"/>
              <a:t>The chart compares attrition rates across three burnout categories: Low, Medium, and High.</a:t>
            </a:r>
            <a:br>
              <a:rPr lang="en-IN" sz="1400" dirty="0"/>
            </a:br>
            <a:r>
              <a:rPr lang="en-IN" sz="1400" dirty="0"/>
              <a:t>Employees with Low burnout have the lowest attrition rate, approximately 4–5%.</a:t>
            </a:r>
            <a:br>
              <a:rPr lang="en-IN" sz="1400" dirty="0"/>
            </a:br>
            <a:r>
              <a:rPr lang="en-IN" sz="1400" dirty="0"/>
              <a:t>Employees with Medium burnout have an attrition rate of approximately 19%.</a:t>
            </a:r>
            <a:br>
              <a:rPr lang="en-IN" sz="1400" dirty="0"/>
            </a:br>
            <a:r>
              <a:rPr lang="en-IN" sz="1400" dirty="0"/>
              <a:t>Employees with High burnout have the highest attrition rate, approximately 42–43%.</a:t>
            </a:r>
            <a:br>
              <a:rPr lang="en-IN" sz="1400" dirty="0"/>
            </a:br>
            <a:r>
              <a:rPr lang="en-IN" sz="1400" dirty="0"/>
              <a:t>There is a clear increasing pattern: as burnout increases, the attrition rate also increases.</a:t>
            </a:r>
            <a:br>
              <a:rPr lang="en-IN" sz="1400" dirty="0"/>
            </a:br>
            <a:r>
              <a:rPr lang="en-IN" sz="1400" dirty="0"/>
              <a:t>This suggests that higher burnout is strongly associated with higher employee attrition in this dataset.</a:t>
            </a:r>
          </a:p>
        </p:txBody>
      </p:sp>
      <p:pic>
        <p:nvPicPr>
          <p:cNvPr id="4" name="Picture 3">
            <a:extLst>
              <a:ext uri="{FF2B5EF4-FFF2-40B4-BE49-F238E27FC236}">
                <a16:creationId xmlns:a16="http://schemas.microsoft.com/office/drawing/2014/main" id="{318DF3EF-1D40-C90D-7B1D-D3587A97FC8B}"/>
              </a:ext>
            </a:extLst>
          </p:cNvPr>
          <p:cNvPicPr>
            <a:picLocks noChangeAspect="1"/>
          </p:cNvPicPr>
          <p:nvPr/>
        </p:nvPicPr>
        <p:blipFill>
          <a:blip r:embed="rId2"/>
          <a:stretch>
            <a:fillRect/>
          </a:stretch>
        </p:blipFill>
        <p:spPr>
          <a:xfrm>
            <a:off x="5891752" y="2611225"/>
            <a:ext cx="5402922" cy="3437702"/>
          </a:xfrm>
          <a:prstGeom prst="rect">
            <a:avLst/>
          </a:prstGeom>
        </p:spPr>
      </p:pic>
    </p:spTree>
    <p:extLst>
      <p:ext uri="{BB962C8B-B14F-4D97-AF65-F5344CB8AC3E}">
        <p14:creationId xmlns:p14="http://schemas.microsoft.com/office/powerpoint/2010/main" val="190769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089B58-327D-618F-EC99-68761D3C9BB7}"/>
              </a:ext>
            </a:extLst>
          </p:cNvPr>
          <p:cNvSpPr txBox="1"/>
          <p:nvPr/>
        </p:nvSpPr>
        <p:spPr>
          <a:xfrm>
            <a:off x="754144" y="603315"/>
            <a:ext cx="7409468" cy="1631216"/>
          </a:xfrm>
          <a:prstGeom prst="rect">
            <a:avLst/>
          </a:prstGeom>
          <a:noFill/>
        </p:spPr>
        <p:txBody>
          <a:bodyPr wrap="square" rtlCol="0">
            <a:spAutoFit/>
          </a:bodyPr>
          <a:lstStyle/>
          <a:p>
            <a:r>
              <a:rPr lang="en-IN" sz="1600" b="1" dirty="0"/>
              <a:t>Employee Engagement vs Attrition Rate </a:t>
            </a:r>
            <a:br>
              <a:rPr lang="en-IN" sz="1400" dirty="0"/>
            </a:br>
            <a:r>
              <a:rPr lang="en-IN" sz="1400" dirty="0"/>
              <a:t>The chart compares attrition rates across three engagement levels: Low, Medium, and High.</a:t>
            </a:r>
            <a:br>
              <a:rPr lang="en-IN" sz="1400" dirty="0"/>
            </a:br>
            <a:r>
              <a:rPr lang="en-IN" sz="1400" dirty="0"/>
              <a:t>Low engagement has the highest attrition rate, approximately 59%.</a:t>
            </a:r>
            <a:br>
              <a:rPr lang="en-IN" sz="1400" dirty="0"/>
            </a:br>
            <a:r>
              <a:rPr lang="en-IN" sz="1400" dirty="0"/>
              <a:t>Medium engagement has an attrition rate of approximately 29%.</a:t>
            </a:r>
            <a:br>
              <a:rPr lang="en-IN" sz="1400" dirty="0"/>
            </a:br>
            <a:r>
              <a:rPr lang="en-IN" sz="1400" dirty="0"/>
              <a:t>High engagement has the lowest attrition rate, approximately 10–11%.</a:t>
            </a:r>
            <a:br>
              <a:rPr lang="en-IN" sz="1400" dirty="0"/>
            </a:br>
            <a:r>
              <a:rPr lang="en-IN" sz="1400" dirty="0"/>
              <a:t>There is a clear decreasing pattern: as employee engagement increases, attrition decreases.</a:t>
            </a:r>
            <a:br>
              <a:rPr lang="en-IN" sz="1400" dirty="0"/>
            </a:br>
            <a:r>
              <a:rPr lang="en-IN" sz="1400" dirty="0"/>
              <a:t>This suggests that higher employee engagement is strongly associated with lower attrition.</a:t>
            </a:r>
          </a:p>
        </p:txBody>
      </p:sp>
      <p:pic>
        <p:nvPicPr>
          <p:cNvPr id="4" name="Picture 3">
            <a:extLst>
              <a:ext uri="{FF2B5EF4-FFF2-40B4-BE49-F238E27FC236}">
                <a16:creationId xmlns:a16="http://schemas.microsoft.com/office/drawing/2014/main" id="{E51868CD-2D5B-4DE9-4337-C225F0F5BAA2}"/>
              </a:ext>
            </a:extLst>
          </p:cNvPr>
          <p:cNvPicPr>
            <a:picLocks noChangeAspect="1"/>
          </p:cNvPicPr>
          <p:nvPr/>
        </p:nvPicPr>
        <p:blipFill>
          <a:blip r:embed="rId2"/>
          <a:stretch>
            <a:fillRect/>
          </a:stretch>
        </p:blipFill>
        <p:spPr>
          <a:xfrm>
            <a:off x="5437424" y="2251028"/>
            <a:ext cx="5653827" cy="3661584"/>
          </a:xfrm>
          <a:prstGeom prst="rect">
            <a:avLst/>
          </a:prstGeom>
        </p:spPr>
      </p:pic>
    </p:spTree>
    <p:extLst>
      <p:ext uri="{BB962C8B-B14F-4D97-AF65-F5344CB8AC3E}">
        <p14:creationId xmlns:p14="http://schemas.microsoft.com/office/powerpoint/2010/main" val="267853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2BD010-5B57-E062-1D4A-059667E11575}"/>
              </a:ext>
            </a:extLst>
          </p:cNvPr>
          <p:cNvSpPr txBox="1"/>
          <p:nvPr/>
        </p:nvSpPr>
        <p:spPr>
          <a:xfrm>
            <a:off x="1611984" y="716437"/>
            <a:ext cx="8804635" cy="400110"/>
          </a:xfrm>
          <a:prstGeom prst="rect">
            <a:avLst/>
          </a:prstGeom>
          <a:noFill/>
        </p:spPr>
        <p:txBody>
          <a:bodyPr wrap="square" rtlCol="0">
            <a:spAutoFit/>
          </a:bodyPr>
          <a:lstStyle/>
          <a:p>
            <a:r>
              <a:rPr lang="en-IN" sz="2000" b="1" dirty="0"/>
              <a:t>Manager support vs attrition</a:t>
            </a:r>
          </a:p>
        </p:txBody>
      </p:sp>
      <p:sp>
        <p:nvSpPr>
          <p:cNvPr id="3" name="TextBox 2">
            <a:extLst>
              <a:ext uri="{FF2B5EF4-FFF2-40B4-BE49-F238E27FC236}">
                <a16:creationId xmlns:a16="http://schemas.microsoft.com/office/drawing/2014/main" id="{A5E3E309-E3ED-72C6-5393-C365071F06F6}"/>
              </a:ext>
            </a:extLst>
          </p:cNvPr>
          <p:cNvSpPr txBox="1"/>
          <p:nvPr/>
        </p:nvSpPr>
        <p:spPr>
          <a:xfrm>
            <a:off x="961533" y="1116547"/>
            <a:ext cx="7352908" cy="2031325"/>
          </a:xfrm>
          <a:prstGeom prst="rect">
            <a:avLst/>
          </a:prstGeom>
          <a:noFill/>
        </p:spPr>
        <p:txBody>
          <a:bodyPr wrap="square" rtlCol="0">
            <a:spAutoFit/>
          </a:bodyPr>
          <a:lstStyle/>
          <a:p>
            <a:r>
              <a:rPr lang="en-IN" dirty="0"/>
              <a:t>The analysis shows a clear relationship between manager support and employee attrition. Employees who receive lower management support tend to have higher attrition, meaning they are more likely to leave the company. As the manager support level increases, the attrition level generally decreases. Employees with high manager support are more likely to stay with the organization. Therefore, improving manager support, communication, and guidance may help reduce employee turnover and improve employee retention.</a:t>
            </a:r>
          </a:p>
        </p:txBody>
      </p:sp>
      <p:pic>
        <p:nvPicPr>
          <p:cNvPr id="7" name="Picture 6">
            <a:extLst>
              <a:ext uri="{FF2B5EF4-FFF2-40B4-BE49-F238E27FC236}">
                <a16:creationId xmlns:a16="http://schemas.microsoft.com/office/drawing/2014/main" id="{FC107995-796C-0B71-2370-518DD4793BB8}"/>
              </a:ext>
            </a:extLst>
          </p:cNvPr>
          <p:cNvPicPr>
            <a:picLocks noChangeAspect="1"/>
          </p:cNvPicPr>
          <p:nvPr/>
        </p:nvPicPr>
        <p:blipFill>
          <a:blip r:embed="rId2"/>
          <a:stretch>
            <a:fillRect/>
          </a:stretch>
        </p:blipFill>
        <p:spPr>
          <a:xfrm>
            <a:off x="6096000" y="2790467"/>
            <a:ext cx="4936443" cy="3351096"/>
          </a:xfrm>
          <a:prstGeom prst="rect">
            <a:avLst/>
          </a:prstGeom>
        </p:spPr>
      </p:pic>
    </p:spTree>
    <p:extLst>
      <p:ext uri="{BB962C8B-B14F-4D97-AF65-F5344CB8AC3E}">
        <p14:creationId xmlns:p14="http://schemas.microsoft.com/office/powerpoint/2010/main" val="303490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20700E-144A-8784-0D48-49237BD5EF4A}"/>
              </a:ext>
            </a:extLst>
          </p:cNvPr>
          <p:cNvSpPr txBox="1"/>
          <p:nvPr/>
        </p:nvSpPr>
        <p:spPr>
          <a:xfrm>
            <a:off x="650449" y="650449"/>
            <a:ext cx="9294829" cy="1661993"/>
          </a:xfrm>
          <a:prstGeom prst="rect">
            <a:avLst/>
          </a:prstGeom>
          <a:noFill/>
        </p:spPr>
        <p:txBody>
          <a:bodyPr wrap="square" rtlCol="0">
            <a:spAutoFit/>
          </a:bodyPr>
          <a:lstStyle/>
          <a:p>
            <a:r>
              <a:rPr lang="en-IN" b="1" dirty="0"/>
              <a:t>Work-Life Balance Distribution  vs attrition</a:t>
            </a:r>
          </a:p>
          <a:p>
            <a:r>
              <a:rPr lang="en-IN" sz="1400" dirty="0"/>
              <a:t>The  chart shows the distribution of employees by work-life balance category.</a:t>
            </a:r>
            <a:br>
              <a:rPr lang="en-IN" sz="1400" dirty="0"/>
            </a:br>
            <a:r>
              <a:rPr lang="en-IN" sz="1400" dirty="0"/>
              <a:t>High work-life balance represents the largest group, at 52.7%.</a:t>
            </a:r>
            <a:br>
              <a:rPr lang="en-IN" sz="1400" dirty="0"/>
            </a:br>
            <a:r>
              <a:rPr lang="en-IN" sz="1400" dirty="0"/>
              <a:t>Medium work-life balance represents 23.3% of employees.</a:t>
            </a:r>
            <a:br>
              <a:rPr lang="en-IN" sz="1400" dirty="0"/>
            </a:br>
            <a:r>
              <a:rPr lang="en-IN" sz="1400" dirty="0"/>
              <a:t>Low work-life balance represents 12.7.1%.</a:t>
            </a:r>
            <a:br>
              <a:rPr lang="en-IN" sz="1400" dirty="0"/>
            </a:br>
            <a:r>
              <a:rPr lang="en-IN" sz="1400" dirty="0"/>
              <a:t>If the work life balance increases attrition rate is decreasing and vice versa</a:t>
            </a:r>
            <a:br>
              <a:rPr lang="en-IN" sz="1400" dirty="0"/>
            </a:br>
            <a:endParaRPr lang="en-IN" sz="1400" dirty="0"/>
          </a:p>
        </p:txBody>
      </p:sp>
      <p:pic>
        <p:nvPicPr>
          <p:cNvPr id="6" name="Picture 5">
            <a:extLst>
              <a:ext uri="{FF2B5EF4-FFF2-40B4-BE49-F238E27FC236}">
                <a16:creationId xmlns:a16="http://schemas.microsoft.com/office/drawing/2014/main" id="{0481A2A2-5A26-6C51-3F2E-87C5C912AF3B}"/>
              </a:ext>
            </a:extLst>
          </p:cNvPr>
          <p:cNvPicPr>
            <a:picLocks noChangeAspect="1"/>
          </p:cNvPicPr>
          <p:nvPr/>
        </p:nvPicPr>
        <p:blipFill>
          <a:blip r:embed="rId2"/>
          <a:stretch>
            <a:fillRect/>
          </a:stretch>
        </p:blipFill>
        <p:spPr>
          <a:xfrm>
            <a:off x="1857081" y="2149061"/>
            <a:ext cx="5699318" cy="3785277"/>
          </a:xfrm>
          <a:prstGeom prst="rect">
            <a:avLst/>
          </a:prstGeom>
        </p:spPr>
      </p:pic>
    </p:spTree>
    <p:extLst>
      <p:ext uri="{BB962C8B-B14F-4D97-AF65-F5344CB8AC3E}">
        <p14:creationId xmlns:p14="http://schemas.microsoft.com/office/powerpoint/2010/main" val="498194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FD7581-85F3-6E90-D7FF-C4EDD89E78BE}"/>
              </a:ext>
            </a:extLst>
          </p:cNvPr>
          <p:cNvSpPr txBox="1"/>
          <p:nvPr/>
        </p:nvSpPr>
        <p:spPr>
          <a:xfrm>
            <a:off x="678730" y="593887"/>
            <a:ext cx="9568206" cy="1815882"/>
          </a:xfrm>
          <a:prstGeom prst="rect">
            <a:avLst/>
          </a:prstGeom>
          <a:noFill/>
        </p:spPr>
        <p:txBody>
          <a:bodyPr wrap="square" rtlCol="0">
            <a:spAutoFit/>
          </a:bodyPr>
          <a:lstStyle/>
          <a:p>
            <a:r>
              <a:rPr lang="en-IN" sz="1400" b="1" dirty="0"/>
              <a:t>Perceived AI Job Risk vs Attrition Rate </a:t>
            </a:r>
            <a:br>
              <a:rPr lang="en-IN" sz="1400" dirty="0"/>
            </a:br>
            <a:r>
              <a:rPr lang="en-IN" sz="1400" dirty="0"/>
              <a:t>The chart compares perceived AI job risk scores with employee attrition rates.</a:t>
            </a:r>
            <a:br>
              <a:rPr lang="en-IN" sz="1400" dirty="0"/>
            </a:br>
            <a:r>
              <a:rPr lang="en-IN" sz="1400" dirty="0"/>
              <a:t>The AI job-risk score ranges approximately from 1 to 10.</a:t>
            </a:r>
            <a:br>
              <a:rPr lang="en-IN" sz="1400" dirty="0"/>
            </a:br>
            <a:r>
              <a:rPr lang="en-IN" sz="1400" dirty="0"/>
              <a:t>At lower AI job-risk levels, attrition rates are generally around 10–20%.</a:t>
            </a:r>
            <a:br>
              <a:rPr lang="en-IN" sz="1400" dirty="0"/>
            </a:br>
            <a:r>
              <a:rPr lang="en-IN" sz="1400" dirty="0"/>
              <a:t>As perceived AI job risk increases, the attrition rate generally shows an upward trend.</a:t>
            </a:r>
            <a:br>
              <a:rPr lang="en-IN" sz="1400" dirty="0"/>
            </a:br>
            <a:r>
              <a:rPr lang="en-IN" sz="1400" dirty="0"/>
              <a:t>At higher risk levels, there are several points with substantially higher attrition rates, including values above 40% and 60%.</a:t>
            </a:r>
            <a:br>
              <a:rPr lang="en-IN" sz="1400" dirty="0"/>
            </a:br>
            <a:r>
              <a:rPr lang="en-IN" sz="1400" dirty="0"/>
              <a:t>However, there is considerable variation at the higher risk levels.</a:t>
            </a:r>
            <a:br>
              <a:rPr lang="en-IN" sz="1400" dirty="0"/>
            </a:br>
            <a:r>
              <a:rPr lang="en-IN" sz="1400" dirty="0"/>
              <a:t>Overall, the chart suggests a positive association between perceived AI job risk and attrition in this dataset.</a:t>
            </a:r>
          </a:p>
        </p:txBody>
      </p:sp>
      <p:pic>
        <p:nvPicPr>
          <p:cNvPr id="4" name="Picture 3">
            <a:extLst>
              <a:ext uri="{FF2B5EF4-FFF2-40B4-BE49-F238E27FC236}">
                <a16:creationId xmlns:a16="http://schemas.microsoft.com/office/drawing/2014/main" id="{A13ACF81-E692-5EB2-3767-D59A19D43406}"/>
              </a:ext>
            </a:extLst>
          </p:cNvPr>
          <p:cNvPicPr>
            <a:picLocks noChangeAspect="1"/>
          </p:cNvPicPr>
          <p:nvPr/>
        </p:nvPicPr>
        <p:blipFill>
          <a:blip r:embed="rId2"/>
          <a:stretch>
            <a:fillRect/>
          </a:stretch>
        </p:blipFill>
        <p:spPr>
          <a:xfrm>
            <a:off x="829558" y="2526384"/>
            <a:ext cx="10520313" cy="3365370"/>
          </a:xfrm>
          <a:prstGeom prst="rect">
            <a:avLst/>
          </a:prstGeom>
        </p:spPr>
      </p:pic>
    </p:spTree>
    <p:extLst>
      <p:ext uri="{BB962C8B-B14F-4D97-AF65-F5344CB8AC3E}">
        <p14:creationId xmlns:p14="http://schemas.microsoft.com/office/powerpoint/2010/main" val="1984384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28A45-DDF4-47CC-2F3F-A289A3C99350}"/>
              </a:ext>
            </a:extLst>
          </p:cNvPr>
          <p:cNvPicPr>
            <a:picLocks noChangeAspect="1"/>
          </p:cNvPicPr>
          <p:nvPr/>
        </p:nvPicPr>
        <p:blipFill>
          <a:blip r:embed="rId2"/>
          <a:stretch>
            <a:fillRect/>
          </a:stretch>
        </p:blipFill>
        <p:spPr>
          <a:xfrm>
            <a:off x="5976592" y="1197204"/>
            <a:ext cx="5467548" cy="4467027"/>
          </a:xfrm>
          <a:prstGeom prst="rect">
            <a:avLst/>
          </a:prstGeom>
        </p:spPr>
      </p:pic>
      <p:sp>
        <p:nvSpPr>
          <p:cNvPr id="4" name="TextBox 3">
            <a:extLst>
              <a:ext uri="{FF2B5EF4-FFF2-40B4-BE49-F238E27FC236}">
                <a16:creationId xmlns:a16="http://schemas.microsoft.com/office/drawing/2014/main" id="{F5236466-4B37-C718-0AE4-09D90A4779FC}"/>
              </a:ext>
            </a:extLst>
          </p:cNvPr>
          <p:cNvSpPr txBox="1"/>
          <p:nvPr/>
        </p:nvSpPr>
        <p:spPr>
          <a:xfrm>
            <a:off x="747860" y="1234906"/>
            <a:ext cx="4540577" cy="3970318"/>
          </a:xfrm>
          <a:prstGeom prst="rect">
            <a:avLst/>
          </a:prstGeom>
          <a:noFill/>
        </p:spPr>
        <p:txBody>
          <a:bodyPr wrap="square" rtlCol="0">
            <a:spAutoFit/>
          </a:bodyPr>
          <a:lstStyle/>
          <a:p>
            <a:r>
              <a:rPr lang="en-IN" sz="1400" b="1" dirty="0"/>
              <a:t>Multivariate Analysis &amp; Conclusion</a:t>
            </a:r>
            <a:br>
              <a:rPr lang="en-IN" sz="1400" dirty="0"/>
            </a:br>
            <a:r>
              <a:rPr lang="en-IN" sz="1400" dirty="0"/>
              <a:t>The analysis shows that engagement, burnout, overtime, work-life balance, and manager support have meaningful relationships with employee attrition.</a:t>
            </a:r>
          </a:p>
          <a:p>
            <a:br>
              <a:rPr lang="en-IN" sz="1400" dirty="0"/>
            </a:br>
            <a:r>
              <a:rPr lang="en-IN" sz="1400" dirty="0"/>
              <a:t>Higher engagement → lower attrition.</a:t>
            </a:r>
            <a:br>
              <a:rPr lang="en-IN" sz="1400" dirty="0"/>
            </a:br>
            <a:r>
              <a:rPr lang="en-IN" sz="1400" dirty="0"/>
              <a:t>Higher burnout → higher attrition.</a:t>
            </a:r>
            <a:br>
              <a:rPr lang="en-IN" sz="1400" dirty="0"/>
            </a:br>
            <a:r>
              <a:rPr lang="en-IN" sz="1400" dirty="0"/>
              <a:t>More overtime → higher attrition.</a:t>
            </a:r>
            <a:br>
              <a:rPr lang="en-IN" sz="1400" dirty="0"/>
            </a:br>
            <a:r>
              <a:rPr lang="en-IN" sz="1400" dirty="0"/>
              <a:t>Better work-life balance → lower attrition.</a:t>
            </a:r>
            <a:br>
              <a:rPr lang="en-IN" sz="1400" dirty="0"/>
            </a:br>
            <a:r>
              <a:rPr lang="en-IN" sz="1400" dirty="0"/>
              <a:t>Higher manager support → lower attrition.</a:t>
            </a:r>
            <a:br>
              <a:rPr lang="en-IN" sz="1400" dirty="0"/>
            </a:br>
            <a:r>
              <a:rPr lang="en-IN" sz="1400" dirty="0"/>
              <a:t>AI job-risk perception has a relatively weaker relationship with attrition.</a:t>
            </a:r>
            <a:br>
              <a:rPr lang="en-IN" sz="1400" dirty="0"/>
            </a:br>
            <a:r>
              <a:rPr lang="en-IN" sz="1400" b="1" dirty="0"/>
              <a:t>Conclusion</a:t>
            </a:r>
            <a:br>
              <a:rPr lang="en-IN" sz="1400" dirty="0"/>
            </a:br>
            <a:r>
              <a:rPr lang="en-IN" sz="1400" dirty="0"/>
              <a:t>Overall, employee attrition is more strongly associated with workplace well-being and working conditions than AI-related concerns. Improving engagement, work-life balance, manager support, and workload management, while reducing burnout and excessive overtime, may help improve employee retention.</a:t>
            </a:r>
          </a:p>
        </p:txBody>
      </p:sp>
    </p:spTree>
    <p:extLst>
      <p:ext uri="{BB962C8B-B14F-4D97-AF65-F5344CB8AC3E}">
        <p14:creationId xmlns:p14="http://schemas.microsoft.com/office/powerpoint/2010/main" val="3944998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A8214A-2054-65D2-5449-CEF9B2F88ED6}"/>
              </a:ext>
            </a:extLst>
          </p:cNvPr>
          <p:cNvSpPr txBox="1"/>
          <p:nvPr/>
        </p:nvSpPr>
        <p:spPr>
          <a:xfrm>
            <a:off x="958391" y="584462"/>
            <a:ext cx="10275217" cy="4524315"/>
          </a:xfrm>
          <a:prstGeom prst="rect">
            <a:avLst/>
          </a:prstGeom>
          <a:noFill/>
        </p:spPr>
        <p:txBody>
          <a:bodyPr wrap="square" rtlCol="0">
            <a:spAutoFit/>
          </a:bodyPr>
          <a:lstStyle/>
          <a:p>
            <a:r>
              <a:rPr lang="en-IN" sz="1600" b="1" dirty="0"/>
              <a:t>Final Conclusion</a:t>
            </a:r>
            <a:br>
              <a:rPr lang="en-IN" sz="1600" dirty="0"/>
            </a:br>
            <a:br>
              <a:rPr lang="en-IN" sz="1600" dirty="0"/>
            </a:br>
            <a:r>
              <a:rPr lang="en-IN" sz="1600" dirty="0"/>
              <a:t>Employee attrition varies across age, salary, overtime, burnout, engagement, and perceived Al job risk.</a:t>
            </a:r>
            <a:br>
              <a:rPr lang="en-IN" sz="1600" dirty="0"/>
            </a:br>
            <a:br>
              <a:rPr lang="en-IN" sz="1600" dirty="0"/>
            </a:br>
            <a:r>
              <a:rPr lang="en-IN" sz="1600" dirty="0"/>
              <a:t>Under-25 employees recorded the highest age-group attrition rate at approximately 19.6%.</a:t>
            </a:r>
            <a:br>
              <a:rPr lang="en-IN" sz="1600" dirty="0"/>
            </a:br>
            <a:br>
              <a:rPr lang="en-IN" sz="1600" dirty="0"/>
            </a:br>
            <a:r>
              <a:rPr lang="en-IN" sz="1600" dirty="0"/>
              <a:t>Attrition increases substantially with overtime, with the 20-30 hours category showing the highest rate in the analysis.</a:t>
            </a:r>
            <a:br>
              <a:rPr lang="en-IN" sz="1600" dirty="0"/>
            </a:br>
            <a:br>
              <a:rPr lang="en-IN" sz="1600" dirty="0"/>
            </a:br>
            <a:r>
              <a:rPr lang="en-IN" sz="1600" dirty="0"/>
              <a:t>High burnout is strongly associated with higher attrition: approximately 43%, compared with about 5% for low burnout.</a:t>
            </a:r>
          </a:p>
          <a:p>
            <a:endParaRPr lang="en-IN" sz="1600" dirty="0"/>
          </a:p>
          <a:p>
            <a:r>
              <a:rPr lang="en-IN" sz="1600" dirty="0"/>
              <a:t>Higher manager support level reduce the attrition rate and the lower level show higher attrition</a:t>
            </a:r>
            <a:br>
              <a:rPr lang="en-IN" sz="1600" dirty="0"/>
            </a:br>
            <a:br>
              <a:rPr lang="en-IN" sz="1600" dirty="0"/>
            </a:br>
            <a:r>
              <a:rPr lang="en-IN" sz="1600" dirty="0"/>
              <a:t>Low engagement is associated with much higher attrition, approximately 59%, while high engagement is around 10%.</a:t>
            </a:r>
            <a:br>
              <a:rPr lang="en-IN" sz="1600" dirty="0"/>
            </a:br>
            <a:br>
              <a:rPr lang="en-IN" sz="1600" dirty="0"/>
            </a:br>
            <a:r>
              <a:rPr lang="en-IN" sz="1600" dirty="0"/>
              <a:t>Higher perceived Al job risk generally shows an upward relationship with attrition, although there is considerable variation.</a:t>
            </a:r>
            <a:br>
              <a:rPr lang="en-IN" sz="1600" dirty="0"/>
            </a:br>
            <a:br>
              <a:rPr lang="en-IN" sz="1600" dirty="0"/>
            </a:br>
            <a:r>
              <a:rPr lang="en-IN" sz="1600" dirty="0"/>
              <a:t>Overall, employee well-being, engagement, workload, and job-related concerns appear to be important areas associated with employee turnover.</a:t>
            </a:r>
          </a:p>
        </p:txBody>
      </p:sp>
    </p:spTree>
    <p:extLst>
      <p:ext uri="{BB962C8B-B14F-4D97-AF65-F5344CB8AC3E}">
        <p14:creationId xmlns:p14="http://schemas.microsoft.com/office/powerpoint/2010/main" val="1327242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1C04F7-829C-86EC-AAD1-C5590CF5EA8D}"/>
              </a:ext>
            </a:extLst>
          </p:cNvPr>
          <p:cNvSpPr txBox="1"/>
          <p:nvPr/>
        </p:nvSpPr>
        <p:spPr>
          <a:xfrm>
            <a:off x="772997" y="725864"/>
            <a:ext cx="10576875" cy="4801314"/>
          </a:xfrm>
          <a:prstGeom prst="rect">
            <a:avLst/>
          </a:prstGeom>
          <a:noFill/>
        </p:spPr>
        <p:txBody>
          <a:bodyPr wrap="square" rtlCol="0">
            <a:spAutoFit/>
          </a:bodyPr>
          <a:lstStyle/>
          <a:p>
            <a:r>
              <a:rPr lang="en-IN" b="1" dirty="0"/>
              <a:t>Recommendations / Suggestions</a:t>
            </a:r>
            <a:br>
              <a:rPr lang="en-IN" sz="1600" dirty="0"/>
            </a:br>
            <a:br>
              <a:rPr lang="en-IN" sz="1600" dirty="0"/>
            </a:br>
            <a:r>
              <a:rPr lang="en-IN" sz="1600" dirty="0"/>
              <a:t>1. Reduce over time by monitoring workload and staffing</a:t>
            </a:r>
            <a:br>
              <a:rPr lang="en-IN" sz="1600" dirty="0"/>
            </a:br>
            <a:br>
              <a:rPr lang="en-IN" sz="1600" dirty="0"/>
            </a:br>
            <a:r>
              <a:rPr lang="en-IN" sz="1600" dirty="0"/>
              <a:t>2. Address employee burnout through workload management, regular feedback, and employee-support initiatives.</a:t>
            </a:r>
            <a:br>
              <a:rPr lang="en-IN" sz="1600" dirty="0"/>
            </a:br>
            <a:br>
              <a:rPr lang="en-IN" sz="1600" dirty="0"/>
            </a:br>
            <a:r>
              <a:rPr lang="en-IN" sz="1600" dirty="0"/>
              <a:t>3. Improve employee engagement through recognition, career-development opportunities, and employee feedback.</a:t>
            </a:r>
            <a:br>
              <a:rPr lang="en-IN" sz="1600" dirty="0"/>
            </a:br>
            <a:br>
              <a:rPr lang="en-IN" sz="1600" dirty="0"/>
            </a:br>
            <a:r>
              <a:rPr lang="en-IN" sz="1600" dirty="0"/>
              <a:t>4. Promote work-life balance through flexible working practices and reasonable workloads.</a:t>
            </a:r>
            <a:br>
              <a:rPr lang="en-IN" sz="1600" dirty="0"/>
            </a:br>
            <a:br>
              <a:rPr lang="en-IN" sz="1600" dirty="0"/>
            </a:br>
            <a:r>
              <a:rPr lang="en-IN" sz="1600" dirty="0"/>
              <a:t>5. Focus on younger employees, particularly the Under-25 group, through mentoring and career-development programs.</a:t>
            </a:r>
            <a:br>
              <a:rPr lang="en-IN" sz="1600" dirty="0"/>
            </a:br>
            <a:br>
              <a:rPr lang="en-IN" sz="1600" dirty="0"/>
            </a:br>
            <a:r>
              <a:rPr lang="en-IN" sz="1600" dirty="0"/>
              <a:t>6. Monitor Al-related job concerns and provide employees with Al training and upskilling opportunities.</a:t>
            </a:r>
            <a:br>
              <a:rPr lang="en-IN" sz="1600" dirty="0"/>
            </a:br>
            <a:endParaRPr lang="en-IN" sz="1600" dirty="0"/>
          </a:p>
          <a:p>
            <a:r>
              <a:rPr lang="en-IN" sz="1600" dirty="0"/>
              <a:t>7. Improve manager </a:t>
            </a:r>
            <a:r>
              <a:rPr lang="en-IN" sz="1600"/>
              <a:t>support </a:t>
            </a:r>
            <a:endParaRPr lang="en-IN" sz="1600" dirty="0"/>
          </a:p>
          <a:p>
            <a:br>
              <a:rPr lang="en-IN" sz="1600" dirty="0"/>
            </a:br>
            <a:r>
              <a:rPr lang="en-IN" sz="1600" dirty="0"/>
              <a:t>8. Use department and salary-level attrition rates to identify specific groups requiring further investigation.</a:t>
            </a:r>
            <a:br>
              <a:rPr lang="en-IN" sz="1600" dirty="0"/>
            </a:br>
            <a:br>
              <a:rPr lang="en-IN" sz="1600" dirty="0"/>
            </a:br>
            <a:endParaRPr lang="en-IN" dirty="0"/>
          </a:p>
        </p:txBody>
      </p:sp>
    </p:spTree>
    <p:extLst>
      <p:ext uri="{BB962C8B-B14F-4D97-AF65-F5344CB8AC3E}">
        <p14:creationId xmlns:p14="http://schemas.microsoft.com/office/powerpoint/2010/main" val="3468051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E7138A-8189-7301-BDD0-143806311746}"/>
              </a:ext>
            </a:extLst>
          </p:cNvPr>
          <p:cNvSpPr txBox="1"/>
          <p:nvPr/>
        </p:nvSpPr>
        <p:spPr>
          <a:xfrm>
            <a:off x="1904214" y="1875934"/>
            <a:ext cx="6825007" cy="769441"/>
          </a:xfrm>
          <a:prstGeom prst="rect">
            <a:avLst/>
          </a:prstGeom>
          <a:noFill/>
        </p:spPr>
        <p:txBody>
          <a:bodyPr wrap="square" rtlCol="0">
            <a:spAutoFit/>
          </a:bodyPr>
          <a:lstStyle/>
          <a:p>
            <a:pPr algn="ctr"/>
            <a:r>
              <a:rPr lang="en-US" sz="4400" dirty="0"/>
              <a:t>THANK YOU</a:t>
            </a:r>
            <a:endParaRPr lang="en-IN" sz="4400" dirty="0"/>
          </a:p>
        </p:txBody>
      </p:sp>
    </p:spTree>
    <p:extLst>
      <p:ext uri="{BB962C8B-B14F-4D97-AF65-F5344CB8AC3E}">
        <p14:creationId xmlns:p14="http://schemas.microsoft.com/office/powerpoint/2010/main" val="91801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93722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EMPLOYEE ATTRITION ANALYSIS</Template>
  <TotalTime>0</TotalTime>
  <Words>1664</Words>
  <Application>Microsoft Office PowerPoint</Application>
  <PresentationFormat>Widescreen</PresentationFormat>
  <Paragraphs>33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Garamond</vt:lpstr>
      <vt:lpstr>Organic</vt:lpstr>
      <vt:lpstr>EMPLOYEE ATTRITION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Athul N</dc:creator>
  <cp:lastModifiedBy>Athul N</cp:lastModifiedBy>
  <cp:revision>1</cp:revision>
  <dcterms:created xsi:type="dcterms:W3CDTF">2026-09-05T12:16:41Z</dcterms:created>
  <dcterms:modified xsi:type="dcterms:W3CDTF">2026-09-05T12:17:39Z</dcterms:modified>
</cp:coreProperties>
</file>